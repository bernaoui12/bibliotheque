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chivo Black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lacial Indifference" panose="020B0604020202020204" charset="0"/>
      <p:regular r:id="rId16"/>
    </p:embeddedFont>
    <p:embeddedFont>
      <p:font typeface="Glacial Indifference Bold" panose="020B0604020202020204" charset="0"/>
      <p:regular r:id="rId17"/>
    </p:embeddedFont>
    <p:embeddedFont>
      <p:font typeface="Montserrat" panose="00000500000000000000" pitchFamily="2" charset="0"/>
      <p:regular r:id="rId18"/>
    </p:embeddedFont>
    <p:embeddedFont>
      <p:font typeface="Montserrat Bold" panose="00000800000000000000" charset="0"/>
      <p:regular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806030504020204" charset="0"/>
      <p:regular r:id="rId21"/>
    </p:embeddedFont>
    <p:embeddedFont>
      <p:font typeface="Public Sans" panose="020B0604020202020204" charset="0"/>
      <p:regular r:id="rId22"/>
    </p:embeddedFont>
    <p:embeddedFont>
      <p:font typeface="Public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5959" y="2460958"/>
            <a:ext cx="154160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435959" y="7516178"/>
            <a:ext cx="154160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04252" y="5314455"/>
            <a:ext cx="3279495" cy="1639748"/>
          </a:xfrm>
          <a:custGeom>
            <a:avLst/>
            <a:gdLst/>
            <a:ahLst/>
            <a:cxnLst/>
            <a:rect l="l" t="t" r="r" b="b"/>
            <a:pathLst>
              <a:path w="3279495" h="1639748">
                <a:moveTo>
                  <a:pt x="0" y="0"/>
                </a:moveTo>
                <a:lnTo>
                  <a:pt x="3279496" y="0"/>
                </a:lnTo>
                <a:lnTo>
                  <a:pt x="3279496" y="1639748"/>
                </a:lnTo>
                <a:lnTo>
                  <a:pt x="0" y="163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573926" y="443930"/>
            <a:ext cx="7140149" cy="1561908"/>
          </a:xfrm>
          <a:custGeom>
            <a:avLst/>
            <a:gdLst/>
            <a:ahLst/>
            <a:cxnLst/>
            <a:rect l="l" t="t" r="r" b="b"/>
            <a:pathLst>
              <a:path w="7140149" h="1561908">
                <a:moveTo>
                  <a:pt x="0" y="0"/>
                </a:moveTo>
                <a:lnTo>
                  <a:pt x="7140148" y="0"/>
                </a:lnTo>
                <a:lnTo>
                  <a:pt x="7140148" y="1561907"/>
                </a:lnTo>
                <a:lnTo>
                  <a:pt x="0" y="1561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0708" y="2687480"/>
            <a:ext cx="17506585" cy="2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2"/>
              </a:lnSpc>
            </a:pPr>
            <a:r>
              <a:rPr lang="en-US" sz="7621" spc="-472">
                <a:solidFill>
                  <a:srgbClr val="303030"/>
                </a:solidFill>
                <a:latin typeface="Archivo Black"/>
                <a:ea typeface="Archivo Black"/>
                <a:cs typeface="Archivo Black"/>
                <a:sym typeface="Archivo Black"/>
              </a:rPr>
              <a:t>BIBLIOTHÉCA</a:t>
            </a:r>
          </a:p>
          <a:p>
            <a:pPr algn="ctr">
              <a:lnSpc>
                <a:spcPts val="6438"/>
              </a:lnSpc>
            </a:pPr>
            <a:r>
              <a:rPr lang="en-US" sz="4292" b="1" spc="-266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SYSTÈME DE GESTION DE BIBLIOTHÉQUE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63986" y="9704387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ANNÉE UNIVERSITAIRE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2025 - 2026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959" y="8858250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KAWTAR BRIJA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2173" y="8430578"/>
            <a:ext cx="716232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38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ENCADRANTE: </a:t>
            </a:r>
            <a:r>
              <a:rPr lang="en-US" sz="2100" b="1" spc="388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MME KHADIJA TLEMÇANI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5959" y="7870825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MALAK BERNAOUI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5959" y="8364538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YASMINE BOUJNAH</a:t>
            </a:r>
          </a:p>
        </p:txBody>
      </p:sp>
      <p:sp>
        <p:nvSpPr>
          <p:cNvPr id="14" name="Freeform 14"/>
          <p:cNvSpPr/>
          <p:nvPr/>
        </p:nvSpPr>
        <p:spPr>
          <a:xfrm rot="-5400000" flipH="1">
            <a:off x="1417139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H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98419" y="4120867"/>
            <a:ext cx="15416082" cy="0"/>
          </a:xfrm>
          <a:prstGeom prst="line">
            <a:avLst/>
          </a:prstGeom>
          <a:ln w="200025" cap="flat">
            <a:solidFill>
              <a:srgbClr val="ED1C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498419" y="8229600"/>
            <a:ext cx="15416082" cy="0"/>
          </a:xfrm>
          <a:prstGeom prst="line">
            <a:avLst/>
          </a:prstGeom>
          <a:ln w="200025" cap="flat">
            <a:solidFill>
              <a:srgbClr val="ED1C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rot="5400000">
            <a:off x="114300" y="606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59479" y="4880214"/>
            <a:ext cx="14732181" cy="248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3299" b="1" spc="-204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 CRÉER UN SITE WEB QUI FACILITE LA GESTION D'UNE BIBLIOTHÈQUE EN PERMETTANT À PLUSIEURS PERSONNES DE GÉRER LES LIVRES ENSEMBLE, TOUT EN OFFRANT DES STATISTIQUES UTILES ET UNE BONNE EXPÉRIENCE DE NAVIGATION ?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0255" y="8388598"/>
            <a:ext cx="951929" cy="1739404"/>
          </a:xfrm>
          <a:custGeom>
            <a:avLst/>
            <a:gdLst/>
            <a:ahLst/>
            <a:cxnLst/>
            <a:rect l="l" t="t" r="r" b="b"/>
            <a:pathLst>
              <a:path w="951929" h="1739404">
                <a:moveTo>
                  <a:pt x="0" y="0"/>
                </a:moveTo>
                <a:lnTo>
                  <a:pt x="951929" y="0"/>
                </a:lnTo>
                <a:lnTo>
                  <a:pt x="951929" y="1739404"/>
                </a:lnTo>
                <a:lnTo>
                  <a:pt x="0" y="1739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4121" y="400526"/>
            <a:ext cx="1070358" cy="1681991"/>
          </a:xfrm>
          <a:custGeom>
            <a:avLst/>
            <a:gdLst/>
            <a:ahLst/>
            <a:cxnLst/>
            <a:rect l="l" t="t" r="r" b="b"/>
            <a:pathLst>
              <a:path w="1070358" h="1681991">
                <a:moveTo>
                  <a:pt x="0" y="0"/>
                </a:moveTo>
                <a:lnTo>
                  <a:pt x="1070358" y="0"/>
                </a:lnTo>
                <a:lnTo>
                  <a:pt x="1070358" y="1681991"/>
                </a:lnTo>
                <a:lnTo>
                  <a:pt x="0" y="1681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52184" y="2985010"/>
            <a:ext cx="16107116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PROBLÉMATIQUE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2025 - 2026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12719" y="4120867"/>
            <a:ext cx="0" cy="4089683"/>
          </a:xfrm>
          <a:prstGeom prst="line">
            <a:avLst/>
          </a:prstGeom>
          <a:ln w="228600" cap="flat">
            <a:solidFill>
              <a:srgbClr val="ED1C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6824134" y="4056149"/>
            <a:ext cx="0" cy="4232103"/>
          </a:xfrm>
          <a:prstGeom prst="line">
            <a:avLst/>
          </a:prstGeom>
          <a:ln w="200025" cap="flat">
            <a:solidFill>
              <a:srgbClr val="ED1C2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23085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>
            <a:off x="14173200" y="606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9814" y="1162050"/>
            <a:ext cx="16107116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 DE LA PRÉSENTATION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2025 - 2026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80508" y="3985648"/>
            <a:ext cx="3568362" cy="1921720"/>
            <a:chOff x="0" y="133351"/>
            <a:chExt cx="4757816" cy="2562293"/>
          </a:xfrm>
        </p:grpSpPr>
        <p:sp>
          <p:nvSpPr>
            <p:cNvPr id="7" name="TextBox 7"/>
            <p:cNvSpPr txBox="1"/>
            <p:nvPr/>
          </p:nvSpPr>
          <p:spPr>
            <a:xfrm>
              <a:off x="1037691" y="133351"/>
              <a:ext cx="2682436" cy="93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83"/>
                </a:lnSpc>
              </a:pPr>
              <a:r>
                <a:rPr lang="en-US" sz="5666" dirty="0">
                  <a:solidFill>
                    <a:schemeClr val="accent1">
                      <a:lumMod val="75000"/>
                    </a:scheme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50044"/>
              <a:ext cx="4757816" cy="94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1"/>
                </a:lnSpc>
              </a:pPr>
              <a:r>
                <a:rPr lang="en-US" sz="2956" b="1">
                  <a:solidFill>
                    <a:srgbClr val="43596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Présentation du projet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57874" y="3985648"/>
            <a:ext cx="3568362" cy="1921720"/>
            <a:chOff x="0" y="133351"/>
            <a:chExt cx="4757816" cy="2562293"/>
          </a:xfrm>
        </p:grpSpPr>
        <p:sp>
          <p:nvSpPr>
            <p:cNvPr id="10" name="TextBox 10"/>
            <p:cNvSpPr txBox="1"/>
            <p:nvPr/>
          </p:nvSpPr>
          <p:spPr>
            <a:xfrm>
              <a:off x="1037691" y="133351"/>
              <a:ext cx="2682436" cy="93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83"/>
                </a:lnSpc>
              </a:pPr>
              <a:r>
                <a:rPr lang="en-US" sz="5666" dirty="0">
                  <a:solidFill>
                    <a:schemeClr val="accent1">
                      <a:lumMod val="75000"/>
                    </a:scheme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750044"/>
              <a:ext cx="4757816" cy="94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1"/>
                </a:lnSpc>
              </a:pPr>
              <a:r>
                <a:rPr lang="en-US" sz="2956" b="1">
                  <a:solidFill>
                    <a:srgbClr val="43596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Méthodologie et outils de travail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80508" y="7336580"/>
            <a:ext cx="3568362" cy="1921720"/>
            <a:chOff x="0" y="133351"/>
            <a:chExt cx="4757816" cy="2562293"/>
          </a:xfrm>
        </p:grpSpPr>
        <p:sp>
          <p:nvSpPr>
            <p:cNvPr id="13" name="TextBox 13"/>
            <p:cNvSpPr txBox="1"/>
            <p:nvPr/>
          </p:nvSpPr>
          <p:spPr>
            <a:xfrm>
              <a:off x="1037691" y="133351"/>
              <a:ext cx="2682436" cy="93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83"/>
                </a:lnSpc>
              </a:pPr>
              <a:r>
                <a:rPr lang="en-US" sz="5666" dirty="0">
                  <a:solidFill>
                    <a:schemeClr val="accent1">
                      <a:lumMod val="75000"/>
                    </a:scheme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50044"/>
              <a:ext cx="4757816" cy="94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1"/>
                </a:lnSpc>
              </a:pPr>
              <a:r>
                <a:rPr lang="en-US" sz="2956" b="1">
                  <a:solidFill>
                    <a:srgbClr val="43596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Discussion des résultats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57874" y="7500854"/>
            <a:ext cx="3568362" cy="1593173"/>
            <a:chOff x="0" y="133351"/>
            <a:chExt cx="4757816" cy="2124230"/>
          </a:xfrm>
        </p:grpSpPr>
        <p:sp>
          <p:nvSpPr>
            <p:cNvPr id="16" name="TextBox 16"/>
            <p:cNvSpPr txBox="1"/>
            <p:nvPr/>
          </p:nvSpPr>
          <p:spPr>
            <a:xfrm>
              <a:off x="1037691" y="133351"/>
              <a:ext cx="2682436" cy="934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83"/>
                </a:lnSpc>
              </a:pPr>
              <a:r>
                <a:rPr lang="en-US" sz="5666" dirty="0">
                  <a:solidFill>
                    <a:schemeClr val="accent1">
                      <a:lumMod val="75000"/>
                    </a:schemeClr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750044"/>
              <a:ext cx="4757816" cy="5075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1"/>
                </a:lnSpc>
              </a:pPr>
              <a:r>
                <a:rPr lang="en-US" sz="2956" b="1">
                  <a:solidFill>
                    <a:srgbClr val="43596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0" y="606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93724" y="4120867"/>
            <a:ext cx="5558952" cy="2617949"/>
          </a:xfrm>
          <a:custGeom>
            <a:avLst/>
            <a:gdLst/>
            <a:ahLst/>
            <a:cxnLst/>
            <a:rect l="l" t="t" r="r" b="b"/>
            <a:pathLst>
              <a:path w="5558952" h="2617949">
                <a:moveTo>
                  <a:pt x="0" y="0"/>
                </a:moveTo>
                <a:lnTo>
                  <a:pt x="5558952" y="0"/>
                </a:lnTo>
                <a:lnTo>
                  <a:pt x="5558952" y="2617949"/>
                </a:lnTo>
                <a:lnTo>
                  <a:pt x="0" y="261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084" b="-308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62050"/>
            <a:ext cx="16107116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PRÉSENTATION DU PROJET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2025 - 2026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442" y="2926192"/>
            <a:ext cx="9441373" cy="621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5"/>
              </a:lnSpc>
            </a:pPr>
            <a:r>
              <a:rPr lang="en-US" sz="3300" b="1" spc="-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BIBLIOTHECA  EST UNE SOLUTION INTELLIGENTE VISANT À OPTIMISER LA GESTION DES BIBLIOTHÉQUES EN TEMPS RÉEL</a:t>
            </a:r>
            <a:r>
              <a:rPr lang="en-US" sz="3300" spc="-2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5115"/>
              </a:lnSpc>
            </a:pPr>
            <a:endParaRPr lang="en-US" sz="3300" spc="-20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5115"/>
              </a:lnSpc>
            </a:pPr>
            <a:endParaRPr lang="en-US" sz="3300" spc="-20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5115"/>
              </a:lnSpc>
            </a:pPr>
            <a:r>
              <a:rPr lang="en-US" sz="3300" b="1" spc="-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NOTRE MISSION EST DE PROPOSER UNE PLATEFORME WEB INTUITIVE QUI MODERNISE LA GESTION QUOTIDIENNE D’UNE BIBLIOTHÈQUE SCOLAIRE OU ASSOCIATIVE. </a:t>
            </a:r>
          </a:p>
          <a:p>
            <a:pPr algn="just">
              <a:lnSpc>
                <a:spcPts val="2444"/>
              </a:lnSpc>
            </a:pPr>
            <a:endParaRPr lang="en-US" sz="3300" b="1" spc="-204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21349" y="1502270"/>
            <a:ext cx="2626858" cy="2612530"/>
          </a:xfrm>
          <a:custGeom>
            <a:avLst/>
            <a:gdLst/>
            <a:ahLst/>
            <a:cxnLst/>
            <a:rect l="l" t="t" r="r" b="b"/>
            <a:pathLst>
              <a:path w="2626858" h="2612530">
                <a:moveTo>
                  <a:pt x="0" y="0"/>
                </a:moveTo>
                <a:lnTo>
                  <a:pt x="2626859" y="0"/>
                </a:lnTo>
                <a:lnTo>
                  <a:pt x="2626859" y="2612530"/>
                </a:lnTo>
                <a:lnTo>
                  <a:pt x="0" y="2612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6963" y="697332"/>
            <a:ext cx="16107116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OBJECTIFS DU PROJET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2025 - 2026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3934" y="2216937"/>
            <a:ext cx="7810356" cy="395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704" lvl="1" indent="-284352" algn="just">
              <a:lnSpc>
                <a:spcPts val="4082"/>
              </a:lnSpc>
              <a:buFont typeface="Arial"/>
              <a:buChar char="•"/>
            </a:pPr>
            <a:r>
              <a:rPr lang="en-US" sz="2634" b="1" spc="-1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DIGITALISER LA GESTION D’UNE BIBLIOTHÈQUE LOCALE.</a:t>
            </a:r>
          </a:p>
          <a:p>
            <a:pPr marL="568704" lvl="1" indent="-284352" algn="just">
              <a:lnSpc>
                <a:spcPts val="4082"/>
              </a:lnSpc>
              <a:buFont typeface="Arial"/>
              <a:buChar char="•"/>
            </a:pPr>
            <a:r>
              <a:rPr lang="en-US" sz="2634" b="1" spc="-1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Centraliser l’authentification ET LA PERSISTANCE DES SESSIONS.</a:t>
            </a:r>
          </a:p>
          <a:p>
            <a:pPr marL="568704" lvl="1" indent="-284352" algn="just">
              <a:lnSpc>
                <a:spcPts val="4082"/>
              </a:lnSpc>
              <a:buFont typeface="Arial"/>
              <a:buChar char="•"/>
            </a:pPr>
            <a:r>
              <a:rPr lang="en-US" sz="2634" b="1" spc="-1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SIMPLIFIER LE SUIVI DES LIVRES ET AUTEURS VIA UNE INTERFACE UNIQUE.</a:t>
            </a:r>
          </a:p>
          <a:p>
            <a:pPr algn="l">
              <a:lnSpc>
                <a:spcPts val="4082"/>
              </a:lnSpc>
            </a:pPr>
            <a:endParaRPr lang="en-US" sz="2634" b="1" spc="-163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476"/>
              </a:lnSpc>
            </a:pPr>
            <a:endParaRPr lang="en-US" sz="2634" b="1" spc="-163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60521" y="5048250"/>
            <a:ext cx="8741205" cy="441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705" lvl="1" indent="-313852" algn="l">
              <a:lnSpc>
                <a:spcPts val="4506"/>
              </a:lnSpc>
              <a:buFont typeface="Arial"/>
              <a:buChar char="•"/>
            </a:pPr>
            <a:r>
              <a:rPr lang="en-US" sz="2907" b="1" spc="-18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OFFRIR RECHERCHE, TRI ET ÉDITION RAPIDE POUR LE CATALOGUE.</a:t>
            </a:r>
          </a:p>
          <a:p>
            <a:pPr marL="627705" lvl="1" indent="-313852" algn="l">
              <a:lnSpc>
                <a:spcPts val="4506"/>
              </a:lnSpc>
              <a:buFont typeface="Arial"/>
              <a:buChar char="•"/>
            </a:pPr>
            <a:r>
              <a:rPr lang="en-US" sz="2907" b="1" spc="-18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FOURNIR DES INDICATEURS ET VISUALISATIONS POUR PILOTER L’ACTIVITÉ.</a:t>
            </a:r>
          </a:p>
          <a:p>
            <a:pPr marL="627705" lvl="1" indent="-313852" algn="l">
              <a:lnSpc>
                <a:spcPts val="4506"/>
              </a:lnSpc>
              <a:buFont typeface="Arial"/>
              <a:buChar char="•"/>
            </a:pPr>
            <a:r>
              <a:rPr lang="en-US" sz="2907" b="1" spc="-18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ENRICHIR L’EXPÉRIENCE AVEC DES DONNÉES EXTERNES (OPENLIBRARY).</a:t>
            </a:r>
          </a:p>
          <a:p>
            <a:pPr algn="l">
              <a:lnSpc>
                <a:spcPts val="4506"/>
              </a:lnSpc>
            </a:pPr>
            <a:endParaRPr lang="en-US" sz="2907" b="1" spc="-18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732"/>
              </a:lnSpc>
            </a:pPr>
            <a:endParaRPr lang="en-US" sz="2907" b="1" spc="-18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/>
          <p:cNvSpPr/>
          <p:nvPr/>
        </p:nvSpPr>
        <p:spPr>
          <a:xfrm rot="-5400000">
            <a:off x="2050759" y="6408578"/>
            <a:ext cx="2434994" cy="2421712"/>
          </a:xfrm>
          <a:custGeom>
            <a:avLst/>
            <a:gdLst/>
            <a:ahLst/>
            <a:cxnLst/>
            <a:rect l="l" t="t" r="r" b="b"/>
            <a:pathLst>
              <a:path w="2434994" h="2421712">
                <a:moveTo>
                  <a:pt x="0" y="0"/>
                </a:moveTo>
                <a:lnTo>
                  <a:pt x="2434994" y="0"/>
                </a:lnTo>
                <a:lnTo>
                  <a:pt x="2434994" y="2421712"/>
                </a:lnTo>
                <a:lnTo>
                  <a:pt x="0" y="24217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170107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-136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20152" y="6270090"/>
            <a:ext cx="6873581" cy="3303704"/>
          </a:xfrm>
          <a:custGeom>
            <a:avLst/>
            <a:gdLst/>
            <a:ahLst/>
            <a:cxnLst/>
            <a:rect l="l" t="t" r="r" b="b"/>
            <a:pathLst>
              <a:path w="6873581" h="3303704">
                <a:moveTo>
                  <a:pt x="0" y="0"/>
                </a:moveTo>
                <a:lnTo>
                  <a:pt x="6873580" y="0"/>
                </a:lnTo>
                <a:lnTo>
                  <a:pt x="6873580" y="3303704"/>
                </a:lnTo>
                <a:lnTo>
                  <a:pt x="0" y="3303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98" b="-169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9676" y="830869"/>
            <a:ext cx="16107116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OUTILS UTILISÉS</a:t>
            </a:r>
          </a:p>
          <a:p>
            <a:pPr algn="ctr">
              <a:lnSpc>
                <a:spcPts val="4699"/>
              </a:lnSpc>
            </a:pPr>
            <a:endParaRPr lang="en-US" sz="4999" b="1" spc="-309">
              <a:solidFill>
                <a:srgbClr val="ED1C2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2025 - 2026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7168" y="2564230"/>
            <a:ext cx="16472132" cy="3705860"/>
            <a:chOff x="0" y="0"/>
            <a:chExt cx="21962843" cy="4941147"/>
          </a:xfrm>
        </p:grpSpPr>
        <p:sp>
          <p:nvSpPr>
            <p:cNvPr id="8" name="TextBox 8"/>
            <p:cNvSpPr txBox="1"/>
            <p:nvPr/>
          </p:nvSpPr>
          <p:spPr>
            <a:xfrm>
              <a:off x="0" y="989118"/>
              <a:ext cx="6039098" cy="3952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structure unique (authentification, navigation, sections Dashboard/Livres/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Auteurs, modales)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05217" y="1218142"/>
              <a:ext cx="6039098" cy="3151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thème personnalisé, animations et responsive sidebar/cartes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923745" y="1218142"/>
              <a:ext cx="6039098" cy="3151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authentification, CRUD livres/auteurs, recherche/tri, KPIs et appel API OpenLibrary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6039098" cy="115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HTML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05217" y="86148"/>
              <a:ext cx="6039098" cy="115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742424" y="-95250"/>
              <a:ext cx="4401741" cy="1151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JavaScript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3861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61001" y="3708406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38232"/>
            <a:ext cx="16107116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MÉTHODOLOGIE </a:t>
            </a:r>
          </a:p>
          <a:p>
            <a:pPr algn="ctr">
              <a:lnSpc>
                <a:spcPts val="4699"/>
              </a:lnSpc>
            </a:pPr>
            <a:endParaRPr lang="en-US" sz="4999" b="1" spc="-309">
              <a:solidFill>
                <a:srgbClr val="ED1C2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17752" y="9705975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2024 - 2025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0442" y="3708406"/>
            <a:ext cx="16265664" cy="890016"/>
            <a:chOff x="0" y="0"/>
            <a:chExt cx="21687552" cy="1186688"/>
          </a:xfrm>
        </p:grpSpPr>
        <p:sp>
          <p:nvSpPr>
            <p:cNvPr id="8" name="Freeform 8"/>
            <p:cNvSpPr/>
            <p:nvPr/>
          </p:nvSpPr>
          <p:spPr>
            <a:xfrm>
              <a:off x="0" y="85280"/>
              <a:ext cx="1135916" cy="508064"/>
            </a:xfrm>
            <a:custGeom>
              <a:avLst/>
              <a:gdLst/>
              <a:ahLst/>
              <a:cxnLst/>
              <a:rect l="l" t="t" r="r" b="b"/>
              <a:pathLst>
                <a:path w="1135916" h="508064">
                  <a:moveTo>
                    <a:pt x="0" y="0"/>
                  </a:moveTo>
                  <a:lnTo>
                    <a:pt x="1135916" y="0"/>
                  </a:lnTo>
                  <a:lnTo>
                    <a:pt x="1135916" y="508064"/>
                  </a:lnTo>
                  <a:lnTo>
                    <a:pt x="0" y="50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398569" y="76200"/>
              <a:ext cx="20288983" cy="1110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3300" b="1" spc="-20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1-CONCEPTION modulaire front-end </a:t>
              </a:r>
            </a:p>
            <a:p>
              <a:pPr algn="l">
                <a:lnSpc>
                  <a:spcPts val="3102"/>
                </a:lnSpc>
              </a:pPr>
              <a:endParaRPr lang="en-US" sz="3300" b="1" spc="-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4713840"/>
            <a:ext cx="16265664" cy="501015"/>
            <a:chOff x="0" y="0"/>
            <a:chExt cx="21687552" cy="668020"/>
          </a:xfrm>
        </p:grpSpPr>
        <p:sp>
          <p:nvSpPr>
            <p:cNvPr id="11" name="TextBox 11"/>
            <p:cNvSpPr txBox="1"/>
            <p:nvPr/>
          </p:nvSpPr>
          <p:spPr>
            <a:xfrm>
              <a:off x="1500674" y="-114300"/>
              <a:ext cx="20186877" cy="782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115"/>
                </a:lnSpc>
              </a:pPr>
              <a:r>
                <a:rPr lang="en-US" sz="3300" b="1" spc="-20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2-GESTION D’ÉTAT LOCALE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79978"/>
              <a:ext cx="1135916" cy="508064"/>
            </a:xfrm>
            <a:custGeom>
              <a:avLst/>
              <a:gdLst/>
              <a:ahLst/>
              <a:cxnLst/>
              <a:rect l="l" t="t" r="r" b="b"/>
              <a:pathLst>
                <a:path w="1135916" h="508064">
                  <a:moveTo>
                    <a:pt x="0" y="0"/>
                  </a:moveTo>
                  <a:lnTo>
                    <a:pt x="1135916" y="0"/>
                  </a:lnTo>
                  <a:lnTo>
                    <a:pt x="1135916" y="508064"/>
                  </a:lnTo>
                  <a:lnTo>
                    <a:pt x="0" y="50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28700" y="5775281"/>
            <a:ext cx="16265664" cy="1148715"/>
            <a:chOff x="0" y="0"/>
            <a:chExt cx="21687552" cy="1531620"/>
          </a:xfrm>
        </p:grpSpPr>
        <p:sp>
          <p:nvSpPr>
            <p:cNvPr id="14" name="TextBox 14"/>
            <p:cNvSpPr txBox="1"/>
            <p:nvPr/>
          </p:nvSpPr>
          <p:spPr>
            <a:xfrm>
              <a:off x="1500674" y="-114300"/>
              <a:ext cx="20186877" cy="1645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115"/>
                </a:lnSpc>
              </a:pPr>
              <a:r>
                <a:rPr lang="en-US" sz="3300" b="1" spc="-20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3-PROGRAMMATION ÉVÉNEMENTIELLE</a:t>
              </a:r>
            </a:p>
            <a:p>
              <a:pPr algn="just">
                <a:lnSpc>
                  <a:spcPts val="5115"/>
                </a:lnSpc>
              </a:pPr>
              <a:endParaRPr lang="en-US" sz="3300" b="1" spc="-20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135916" cy="508064"/>
            </a:xfrm>
            <a:custGeom>
              <a:avLst/>
              <a:gdLst/>
              <a:ahLst/>
              <a:cxnLst/>
              <a:rect l="l" t="t" r="r" b="b"/>
              <a:pathLst>
                <a:path w="1135916" h="508064">
                  <a:moveTo>
                    <a:pt x="0" y="0"/>
                  </a:moveTo>
                  <a:lnTo>
                    <a:pt x="1135916" y="0"/>
                  </a:lnTo>
                  <a:lnTo>
                    <a:pt x="1135916" y="508064"/>
                  </a:lnTo>
                  <a:lnTo>
                    <a:pt x="0" y="50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93636" y="6674250"/>
            <a:ext cx="16265664" cy="499492"/>
            <a:chOff x="0" y="0"/>
            <a:chExt cx="21687552" cy="665990"/>
          </a:xfrm>
        </p:grpSpPr>
        <p:sp>
          <p:nvSpPr>
            <p:cNvPr id="17" name="TextBox 17"/>
            <p:cNvSpPr txBox="1"/>
            <p:nvPr/>
          </p:nvSpPr>
          <p:spPr>
            <a:xfrm>
              <a:off x="1500674" y="76200"/>
              <a:ext cx="20186877" cy="589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3300" b="1" spc="-20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4-RENDU DYNAMIQUE DOM/FETCH 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78963"/>
              <a:ext cx="1135916" cy="508064"/>
            </a:xfrm>
            <a:custGeom>
              <a:avLst/>
              <a:gdLst/>
              <a:ahLst/>
              <a:cxnLst/>
              <a:rect l="l" t="t" r="r" b="b"/>
              <a:pathLst>
                <a:path w="1135916" h="508064">
                  <a:moveTo>
                    <a:pt x="0" y="0"/>
                  </a:moveTo>
                  <a:lnTo>
                    <a:pt x="1135916" y="0"/>
                  </a:lnTo>
                  <a:lnTo>
                    <a:pt x="1135916" y="508064"/>
                  </a:lnTo>
                  <a:lnTo>
                    <a:pt x="0" y="50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93636" y="7598854"/>
            <a:ext cx="16265664" cy="499492"/>
            <a:chOff x="0" y="0"/>
            <a:chExt cx="21687552" cy="665990"/>
          </a:xfrm>
        </p:grpSpPr>
        <p:sp>
          <p:nvSpPr>
            <p:cNvPr id="20" name="TextBox 20"/>
            <p:cNvSpPr txBox="1"/>
            <p:nvPr/>
          </p:nvSpPr>
          <p:spPr>
            <a:xfrm>
              <a:off x="1500674" y="76200"/>
              <a:ext cx="20186877" cy="589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3300" b="1" spc="-204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5-VISUALISATION ANALYTIQUE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78963"/>
              <a:ext cx="1135916" cy="508064"/>
            </a:xfrm>
            <a:custGeom>
              <a:avLst/>
              <a:gdLst/>
              <a:ahLst/>
              <a:cxnLst/>
              <a:rect l="l" t="t" r="r" b="b"/>
              <a:pathLst>
                <a:path w="1135916" h="508064">
                  <a:moveTo>
                    <a:pt x="0" y="0"/>
                  </a:moveTo>
                  <a:lnTo>
                    <a:pt x="1135916" y="0"/>
                  </a:lnTo>
                  <a:lnTo>
                    <a:pt x="1135916" y="508064"/>
                  </a:lnTo>
                  <a:lnTo>
                    <a:pt x="0" y="50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2184" y="4603750"/>
            <a:ext cx="16107116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 spc="-309">
                <a:solidFill>
                  <a:srgbClr val="ED1C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PERSPECTIVES</a:t>
            </a:r>
          </a:p>
          <a:p>
            <a:pPr algn="ctr">
              <a:lnSpc>
                <a:spcPts val="4699"/>
              </a:lnSpc>
            </a:pPr>
            <a:endParaRPr lang="en-US" sz="4999" b="1" spc="-309">
              <a:solidFill>
                <a:srgbClr val="ED1C2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61690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5959" y="2460958"/>
            <a:ext cx="154160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435959" y="7516178"/>
            <a:ext cx="154160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04252" y="5314455"/>
            <a:ext cx="3279495" cy="1639748"/>
          </a:xfrm>
          <a:custGeom>
            <a:avLst/>
            <a:gdLst/>
            <a:ahLst/>
            <a:cxnLst/>
            <a:rect l="l" t="t" r="r" b="b"/>
            <a:pathLst>
              <a:path w="3279495" h="1639748">
                <a:moveTo>
                  <a:pt x="0" y="0"/>
                </a:moveTo>
                <a:lnTo>
                  <a:pt x="3279496" y="0"/>
                </a:lnTo>
                <a:lnTo>
                  <a:pt x="3279496" y="1639748"/>
                </a:lnTo>
                <a:lnTo>
                  <a:pt x="0" y="163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573926" y="443930"/>
            <a:ext cx="7140149" cy="1561908"/>
          </a:xfrm>
          <a:custGeom>
            <a:avLst/>
            <a:gdLst/>
            <a:ahLst/>
            <a:cxnLst/>
            <a:rect l="l" t="t" r="r" b="b"/>
            <a:pathLst>
              <a:path w="7140149" h="1561908">
                <a:moveTo>
                  <a:pt x="0" y="0"/>
                </a:moveTo>
                <a:lnTo>
                  <a:pt x="7140148" y="0"/>
                </a:lnTo>
                <a:lnTo>
                  <a:pt x="7140148" y="1561907"/>
                </a:lnTo>
                <a:lnTo>
                  <a:pt x="0" y="1561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3866" y="3537912"/>
            <a:ext cx="17506585" cy="1386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2"/>
              </a:lnSpc>
            </a:pPr>
            <a:r>
              <a:rPr lang="en-US" sz="7621" spc="-472">
                <a:solidFill>
                  <a:srgbClr val="30303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 DE VOTRE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63986" y="9704387"/>
            <a:ext cx="69759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ANNÉE UNIVERSITAIRE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2025 - 2026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959" y="8858250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KAWTAR BRIJA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2173" y="8430578"/>
            <a:ext cx="7162328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38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ENCADRANTE: MME KHADIJA TLEMÇANI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5959" y="7870825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MALAK BERNAOUI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5959" y="8364538"/>
            <a:ext cx="609505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3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RÉALISÉ PAR : </a:t>
            </a:r>
            <a:r>
              <a:rPr lang="en-US" sz="2000" b="1" spc="37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YASEMINE BOUJNAH</a:t>
            </a:r>
          </a:p>
        </p:txBody>
      </p:sp>
      <p:sp>
        <p:nvSpPr>
          <p:cNvPr id="14" name="Freeform 14"/>
          <p:cNvSpPr/>
          <p:nvPr/>
        </p:nvSpPr>
        <p:spPr>
          <a:xfrm rot="-5400000" flipH="1">
            <a:off x="1417139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 flipH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Personnalisé</PresentationFormat>
  <Paragraphs>57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21" baseType="lpstr">
      <vt:lpstr>Arial</vt:lpstr>
      <vt:lpstr>Archivo Black</vt:lpstr>
      <vt:lpstr>Glacial Indifference Bold</vt:lpstr>
      <vt:lpstr>Public Sans Bold</vt:lpstr>
      <vt:lpstr>Open Sans Bold</vt:lpstr>
      <vt:lpstr>Public Sans</vt:lpstr>
      <vt:lpstr>Open Sans</vt:lpstr>
      <vt:lpstr>Glacial Indifference</vt:lpstr>
      <vt:lpstr>Calibri</vt:lpstr>
      <vt:lpstr>Montserrat</vt:lpstr>
      <vt:lpstr>Montserrat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 Clair et Blanc Simple Rapport de stage Présentation</dc:title>
  <cp:lastModifiedBy>Malak Bernaoui</cp:lastModifiedBy>
  <cp:revision>2</cp:revision>
  <dcterms:created xsi:type="dcterms:W3CDTF">2006-08-16T00:00:00Z</dcterms:created>
  <dcterms:modified xsi:type="dcterms:W3CDTF">2026-01-17T10:48:20Z</dcterms:modified>
  <dc:identifier>DAGqhkXo65k</dc:identifier>
</cp:coreProperties>
</file>